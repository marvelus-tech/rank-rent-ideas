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71E3"/>
                </a:solidFill>
                <a:latin typeface="Inter"/>
              </a:defRPr>
            </a:pPr>
            <a:r>
              <a:t>MARVELUS · NOLOSTSALES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14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Inter"/>
              </a:defRPr>
            </a:pPr>
            <a:r>
              <a:t>Lead Intelligence</a:t>
            </a:r>
            <a:br/>
            <a:r>
              <a:t>Victoria Landscapers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86868B"/>
                </a:solidFill>
                <a:latin typeface="Inter"/>
              </a:defRPr>
            </a:pPr>
            <a:r>
              <a:t>10 leads scraped · 7 new leads · 3 hot 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Inter"/>
              </a:defRPr>
            </a:pPr>
            <a:r>
              <a:t>Wednesday, 27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Inter"/>
              </a:defRPr>
            </a:pPr>
            <a:r>
              <a:t>EXECUTIVE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1D1D1F"/>
                </a:solidFill>
                <a:latin typeface="Inter"/>
              </a:defRPr>
            </a:pPr>
            <a:r>
              <a:t>Pipeline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4688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51460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1D1D1F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86868B"/>
                </a:solidFill>
                <a:latin typeface="Inter"/>
              </a:defRPr>
            </a:pPr>
            <a:r>
              <a:t>Total Leads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2103120"/>
            <a:ext cx="24688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79" y="251460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34C759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79" y="33375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86868B"/>
                </a:solidFill>
                <a:latin typeface="Inter"/>
              </a:defRPr>
            </a:pPr>
            <a:r>
              <a:t>New Leads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24688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3B30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375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86868B"/>
                </a:solidFill>
                <a:latin typeface="Inter"/>
              </a:defRPr>
            </a:pPr>
            <a:r>
              <a:t>Hot Leads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2103120"/>
            <a:ext cx="24688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251460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9500"/>
                </a:solidFill>
                <a:latin typeface="Inter"/>
              </a:defRPr>
            </a:pPr>
            <a:r>
              <a:t>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33375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86868B"/>
                </a:solidFill>
                <a:latin typeface="Inter"/>
              </a:defRPr>
            </a:pPr>
            <a:r>
              <a:t>No Website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Inter"/>
              </a:defRPr>
            </a:pPr>
            <a:r>
              <a:t>TOP PROSPECTS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1D1D1F"/>
                </a:solidFill>
                <a:latin typeface="Inter"/>
              </a:defRPr>
            </a:pPr>
            <a:r>
              <a:t>Top 3 Leads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15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66544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Inter"/>
              </a:defRPr>
            </a:pPr>
            <a:r>
              <a:t>GreenScape Pro Melbourne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50592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Inter"/>
              </a:defRPr>
            </a:pPr>
            <a:r>
              <a:t>No website · Phone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02996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3B30"/>
                </a:solidFill>
                <a:latin typeface="Inter"/>
              </a:defRPr>
            </a:pPr>
            <a:r>
              <a:t>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267712"/>
            <a:ext cx="1920240" cy="411480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CALL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37560"/>
            <a:ext cx="10515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83864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Inter"/>
              </a:defRPr>
            </a:pPr>
            <a:r>
              <a:t>Urban Garden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67912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Inter"/>
              </a:defRPr>
            </a:pPr>
            <a:r>
              <a:t>Basic website · No booking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4472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3B30"/>
                </a:solidFill>
                <a:latin typeface="Inter"/>
              </a:defRPr>
            </a:pPr>
            <a:r>
              <a:t>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685032"/>
            <a:ext cx="1920240" cy="411480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CALL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10515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01184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  <a:latin typeface="Inter"/>
              </a:defRPr>
            </a:pPr>
            <a:r>
              <a:t>Botanical Edge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85232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Inter"/>
              </a:defRPr>
            </a:pPr>
            <a:r>
              <a:t>Website present · No AI/chat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8646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9500"/>
                </a:solidFill>
                <a:latin typeface="Inter"/>
              </a:defRPr>
            </a:pPr>
            <a:r>
              <a:t>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5102352"/>
            <a:ext cx="1920240" cy="41148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FOLLOW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Inter"/>
              </a:defRPr>
            </a:pPr>
            <a:r>
              <a:t>CATEGORY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1D1D1F"/>
                </a:solidFill>
                <a:latin typeface="Inter"/>
              </a:defRPr>
            </a:pPr>
            <a:r>
              <a:t>Lead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Inter"/>
              </a:defRPr>
            </a:pPr>
            <a:r>
              <a:t>New 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1D1D1F"/>
                </a:solidFill>
                <a:latin typeface="Inter"/>
              </a:defRPr>
            </a:pPr>
            <a:r>
              <a:t>70%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057400"/>
            <a:ext cx="7223760" cy="228600"/>
          </a:xfrm>
          <a:prstGeom prst="round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057400"/>
            <a:ext cx="5056632" cy="22860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Inter"/>
              </a:defRPr>
            </a:pPr>
            <a:r>
              <a:t>Hot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30632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1D1D1F"/>
                </a:solidFill>
                <a:latin typeface="Inter"/>
              </a:defRPr>
            </a:pPr>
            <a:r>
              <a:t>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3108960"/>
            <a:ext cx="7223760" cy="228600"/>
          </a:xfrm>
          <a:prstGeom prst="round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40" y="3108960"/>
            <a:ext cx="2167128" cy="228600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Inter"/>
              </a:defRPr>
            </a:pPr>
            <a:r>
              <a:t>No Website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4114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1D1D1F"/>
                </a:solidFill>
                <a:latin typeface="Inter"/>
              </a:defRPr>
            </a:pPr>
            <a:r>
              <a:t>47%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4160520"/>
            <a:ext cx="7223760" cy="228600"/>
          </a:xfrm>
          <a:prstGeom prst="round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4640" y="4160520"/>
            <a:ext cx="3395167" cy="228600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Inter"/>
              </a:defRPr>
            </a:pPr>
            <a:r>
              <a:t>Website Present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51663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1D1D1F"/>
                </a:solidFill>
                <a:latin typeface="Inter"/>
              </a:defRPr>
            </a:pPr>
            <a:r>
              <a:t>53%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5212080"/>
            <a:ext cx="7223760" cy="228600"/>
          </a:xfrm>
          <a:prstGeom prst="round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34640" y="5212080"/>
            <a:ext cx="3828592" cy="2286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71E3"/>
                </a:solidFill>
                <a:latin typeface="Inter"/>
              </a:defRPr>
            </a:pPr>
            <a:r>
              <a:t>OPPORTUNITY +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61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600" b="1">
                <a:solidFill>
                  <a:srgbClr val="1D1D1F"/>
                </a:solidFill>
                <a:latin typeface="Inter"/>
              </a:defRPr>
            </a:pPr>
            <a:r>
              <a:t>47%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6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0">
                <a:solidFill>
                  <a:srgbClr val="86868B"/>
                </a:solidFill>
                <a:latin typeface="Inter"/>
              </a:defRPr>
            </a:pPr>
            <a:r>
              <a:t>of leads have no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1D1D1F"/>
                </a:solidFill>
                <a:latin typeface="Inter"/>
              </a:defRPr>
            </a:pPr>
            <a:r>
              <a:t>• Call GreenScape Pro Melbourne first (score 92)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1D1D1F"/>
                </a:solidFill>
                <a:latin typeface="Inter"/>
              </a:defRPr>
            </a:pPr>
            <a:r>
              <a:t>• Run same-day outreach to all 7 new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1D1D1F"/>
                </a:solidFill>
                <a:latin typeface="Inter"/>
              </a:defRPr>
            </a:pPr>
            <a:r>
              <a:t>• Offer AI voice/chat starter package to no-website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